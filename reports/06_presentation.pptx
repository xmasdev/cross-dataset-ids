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Evaluating and Improving Cross-Dataset Generalization of Machine-Learning-Based Intrusion Detection Systems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B.Tech. Project – I | Mid-Semester Evaluation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September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Introduction</a:t>
            </a:r>
          </a:p>
          <a:p>
            <a:pPr lvl="0" indent="-342900" marL="342900">
              <a:buAutoNum type="arabicPeriod"/>
            </a:pPr>
            <a:r>
              <a:rPr/>
              <a:t>Motivation</a:t>
            </a:r>
          </a:p>
          <a:p>
            <a:pPr lvl="0" indent="-342900" marL="342900">
              <a:buAutoNum type="arabicPeriod"/>
            </a:pPr>
            <a:r>
              <a:rPr/>
              <a:t>Problem Statement &amp; Objectives</a:t>
            </a:r>
          </a:p>
          <a:p>
            <a:pPr lvl="0" indent="-342900" marL="342900">
              <a:buAutoNum type="arabicPeriod"/>
            </a:pPr>
            <a:r>
              <a:rPr/>
              <a:t>The Three Datasets</a:t>
            </a:r>
          </a:p>
          <a:p>
            <a:pPr lvl="0" indent="-342900" marL="342900">
              <a:buAutoNum type="arabicPeriod"/>
            </a:pPr>
            <a:r>
              <a:rPr/>
              <a:t>Core Challenge: Feature-Schema Mismatch</a:t>
            </a:r>
          </a:p>
          <a:p>
            <a:pPr lvl="0" indent="-342900" marL="342900">
              <a:buAutoNum type="arabicPeriod"/>
            </a:pPr>
            <a:r>
              <a:rPr/>
              <a:t>Literature Review</a:t>
            </a:r>
          </a:p>
          <a:p>
            <a:pPr lvl="0" indent="-342900" marL="342900">
              <a:buAutoNum type="arabicPeriod"/>
            </a:pPr>
            <a:r>
              <a:rPr/>
              <a:t>Research Gap</a:t>
            </a:r>
          </a:p>
          <a:p>
            <a:pPr lvl="0" indent="-342900" marL="342900">
              <a:buAutoNum type="arabicPeriod"/>
            </a:pPr>
            <a:r>
              <a:rPr/>
              <a:t>Proposed Methodology</a:t>
            </a:r>
          </a:p>
          <a:p>
            <a:pPr lvl="0" indent="-342900" marL="342900">
              <a:buAutoNum type="arabicPeriod"/>
            </a:pPr>
            <a:r>
              <a:rPr/>
              <a:t>Feature Harmonisation</a:t>
            </a:r>
          </a:p>
          <a:p>
            <a:pPr lvl="0" indent="-342900" marL="342900">
              <a:buAutoNum type="arabicPeriod"/>
            </a:pPr>
            <a:r>
              <a:rPr/>
              <a:t>Metaheuristic Feature Selection</a:t>
            </a:r>
          </a:p>
          <a:p>
            <a:pPr lvl="0" indent="-342900" marL="342900">
              <a:buAutoNum type="arabicPeriod"/>
            </a:pPr>
            <a:r>
              <a:rPr/>
              <a:t>Evaluation Protocol &amp; Baselines</a:t>
            </a:r>
          </a:p>
          <a:p>
            <a:pPr lvl="0" indent="-342900" marL="342900">
              <a:buAutoNum type="arabicPeriod"/>
            </a:pPr>
            <a:r>
              <a:rPr/>
              <a:t>Implementation &amp; Progress</a:t>
            </a:r>
          </a:p>
          <a:p>
            <a:pPr lvl="0" indent="-342900" marL="342900">
              <a:buAutoNum type="arabicPeriod"/>
            </a:pPr>
            <a:r>
              <a:rPr/>
              <a:t>Results &amp; Discussion</a:t>
            </a:r>
          </a:p>
          <a:p>
            <a:pPr lvl="0" indent="-342900" marL="342900">
              <a:buAutoNum type="arabicPeriod"/>
            </a:pPr>
            <a:r>
              <a:rPr/>
              <a:t>Gantt Chart</a:t>
            </a:r>
          </a:p>
          <a:p>
            <a:pPr lvl="0" indent="-342900" marL="342900">
              <a:buAutoNum type="arabicPeriod"/>
            </a:pPr>
            <a:r>
              <a:rPr/>
              <a:t>Conclusion &amp; Future Work</a:t>
            </a:r>
          </a:p>
          <a:p>
            <a:pPr lvl="0" indent="-342900" marL="342900">
              <a:buAutoNum type="arabicPeriod"/>
            </a:pPr>
            <a:r>
              <a:rPr/>
              <a:t>References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Network Intrusion Detection Systems (NIDS)</a:t>
            </a:r>
            <a:r>
              <a:rPr/>
              <a:t> monitor traffic to detect attacks.</a:t>
            </a:r>
          </a:p>
          <a:p>
            <a:pPr lvl="0"/>
            <a:r>
              <a:rPr/>
              <a:t>ML-based IDS learn attack patterns from labelled traffic and dominate current research.</a:t>
            </a:r>
          </a:p>
          <a:p>
            <a:pPr lvl="0"/>
            <a:r>
              <a:rPr/>
              <a:t>Standard benchmarks: </a:t>
            </a:r>
            <a:r>
              <a:rPr b="1"/>
              <a:t>CIC-IDS-2017</a:t>
            </a:r>
            <a:r>
              <a:rPr/>
              <a:t>, </a:t>
            </a:r>
            <a:r>
              <a:rPr b="1"/>
              <a:t>UNSW-NB15</a:t>
            </a:r>
            <a:r>
              <a:rPr/>
              <a:t>, </a:t>
            </a:r>
            <a:r>
              <a:rPr b="1"/>
              <a:t>TON_IoT</a:t>
            </a:r>
            <a:r>
              <a:rPr/>
              <a:t>.</a:t>
            </a:r>
          </a:p>
          <a:p>
            <a:pPr lvl="0"/>
            <a:r>
              <a:rPr b="1"/>
              <a:t>Usual evaluation:</a:t>
            </a:r>
            <a:r>
              <a:rPr/>
              <a:t> train and test on the </a:t>
            </a:r>
            <a:r>
              <a:rPr i="1"/>
              <a:t>same</a:t>
            </a:r>
            <a:r>
              <a:rPr/>
              <a:t> dataset → accuracy &gt; 99%.</a:t>
            </a:r>
          </a:p>
          <a:p>
            <a:pPr lvl="0"/>
            <a:r>
              <a:rPr b="1"/>
              <a:t>Reality:</a:t>
            </a:r>
            <a:r>
              <a:rPr/>
              <a:t> an IDS is trained on one network and deployed on a </a:t>
            </a:r>
            <a:r>
              <a:rPr i="1"/>
              <a:t>different</a:t>
            </a:r>
            <a:r>
              <a:rPr/>
              <a:t> one.</a:t>
            </a:r>
          </a:p>
          <a:p>
            <a:pPr lvl="0"/>
            <a:r>
              <a:rPr b="1"/>
              <a:t>Cross-dataset generalisation:</a:t>
            </a:r>
            <a:r>
              <a:rPr/>
              <a:t> how well does a model trained on dataset A work on dataset B?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Deployment reality:</a:t>
            </a:r>
            <a:r>
              <a:rPr/>
              <a:t> organisations rarely have large labelled data for their own network — they must reuse models trained elsewhere.</a:t>
            </a:r>
          </a:p>
          <a:p>
            <a:pPr lvl="0"/>
            <a:r>
              <a:rPr b="1"/>
              <a:t>The gap is severe:</a:t>
            </a:r>
            <a:r>
              <a:rPr/>
              <a:t> independent studies show cross-dataset accuracy falling to </a:t>
            </a:r>
            <a:r>
              <a:rPr b="1"/>
              <a:t>&lt;40%</a:t>
            </a:r>
            <a:r>
              <a:rPr/>
              <a:t> or near </a:t>
            </a:r>
            <a:r>
              <a:rPr b="1"/>
              <a:t>random chance</a:t>
            </a:r>
            <a:r>
              <a:rPr/>
              <a:t>.</a:t>
            </a:r>
          </a:p>
          <a:p>
            <a:pPr lvl="0"/>
            <a:r>
              <a:rPr b="1"/>
              <a:t>It is a feature problem:</a:t>
            </a:r>
            <a:r>
              <a:rPr/>
              <a:t> models rely on dataset-specific features (IPs, ports, collection-window statistics) instead of real attack behaviour.</a:t>
            </a:r>
          </a:p>
          <a:p>
            <a:pPr lvl="0"/>
            <a:r>
              <a:rPr b="1"/>
              <a:t>Metaheuristic feature selection is mature</a:t>
            </a:r>
            <a:r>
              <a:rPr/>
              <a:t> — but </a:t>
            </a:r>
            <a:r>
              <a:rPr i="1"/>
              <a:t>always</a:t>
            </a:r>
            <a:r>
              <a:rPr/>
              <a:t> optimises </a:t>
            </a:r>
            <a:r>
              <a:rPr b="1"/>
              <a:t>same-dataset</a:t>
            </a:r>
            <a:r>
              <a:rPr/>
              <a:t> accuracy.</a:t>
            </a:r>
          </a:p>
          <a:p>
            <a:pPr lvl="0"/>
            <a:r>
              <a:rPr b="1"/>
              <a:t>Our idea:</a:t>
            </a:r>
            <a:r>
              <a:rPr/>
              <a:t> re-aim the optimiser at </a:t>
            </a:r>
            <a:r>
              <a:rPr b="1"/>
              <a:t>cross-dataset robustness</a:t>
            </a:r>
            <a:r>
              <a:rPr/>
              <a:t> — simple, powerful, unexplored.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Problem statement</a:t>
            </a:r>
          </a:p>
          <a:p>
            <a:pPr lvl="0"/>
            <a:r>
              <a:rPr/>
              <a:t>ML-based IDS are evaluated with same-dataset splits, overstating real-world value.</a:t>
            </a:r>
          </a:p>
          <a:p>
            <a:pPr lvl="0"/>
            <a:r>
              <a:rPr/>
              <a:t>On a structurally different network, performance collapses [1], [2].</a:t>
            </a:r>
          </a:p>
          <a:p>
            <a:pPr lvl="0"/>
            <a:r>
              <a:rPr/>
              <a:t>Existing feature-selection methods optimise only same-dataset accuracy [8]–[12].</a:t>
            </a:r>
          </a:p>
          <a:p>
            <a:pPr lvl="0"/>
            <a:r>
              <a:rPr b="1"/>
              <a:t>Need:</a:t>
            </a:r>
            <a:r>
              <a:rPr/>
              <a:t> characterise the cross-dataset gap, and select features </a:t>
            </a:r>
            <a:r>
              <a:rPr i="1"/>
              <a:t>for transfer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Objectives</a:t>
            </a:r>
          </a:p>
          <a:p>
            <a:pPr lvl="0" indent="-342900" marL="342900">
              <a:buAutoNum type="arabicPeriod"/>
            </a:pPr>
            <a:r>
              <a:rPr/>
              <a:t>Evaluate cross-dataset generalisation of ML/DL models across the three datasets.</a:t>
            </a:r>
          </a:p>
          <a:p>
            <a:pPr lvl="0" indent="-342900" marL="342900">
              <a:buAutoNum type="arabicPeriod"/>
            </a:pPr>
            <a:r>
              <a:rPr/>
              <a:t>Characterise which features and attack classes transfer vs. which are artefacts.</a:t>
            </a:r>
          </a:p>
          <a:p>
            <a:pPr lvl="0" indent="-342900" marL="342900">
              <a:buAutoNum type="arabicPeriod"/>
            </a:pPr>
            <a:r>
              <a:rPr/>
              <a:t>Compare metaheuristic optimisers (GA, PSO, …) for transfer-oriented feature selection.</a:t>
            </a:r>
          </a:p>
          <a:p>
            <a:pPr lvl="0" indent="-342900" marL="342900">
              <a:buAutoNum type="arabicPeriod"/>
            </a:pPr>
            <a:r>
              <a:rPr/>
              <a:t>Benchmark against standard feature-selection baselines.</a:t>
            </a:r>
          </a:p>
          <a:p>
            <a:pPr lvl="0" indent="-342900" marL="342900">
              <a:buAutoNum type="arabicPeriod"/>
            </a:pPr>
            <a:r>
              <a:rPr/>
              <a:t>Produce practical guidelines for generalisable IDS.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Datasets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1231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/ 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CIC-IDS-2017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CIC, CICFlowMeter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2,830,743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UNSW-NB15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ACCS, Argus + 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257,673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+ Normal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TON_IoT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UNSW, Zeek (Bro)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211,043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552700"/>
            <a:ext cx="8229600" cy="1905000"/>
          </a:xfrm>
        </p:spPr>
        <p:txBody>
          <a:bodyPr/>
          <a:lstStyle/>
          <a:p>
            <a:pPr lvl="0"/>
            <a:r>
              <a:rPr/>
              <a:t>Collected on </a:t>
            </a:r>
            <a:r>
              <a:rPr b="1"/>
              <a:t>different networks</a:t>
            </a:r>
            <a:r>
              <a:rPr/>
              <a:t> with </a:t>
            </a:r>
            <a:r>
              <a:rPr b="1"/>
              <a:t>different feature-extraction tools</a:t>
            </a:r>
            <a:r>
              <a:rPr/>
              <a:t>.</a:t>
            </a:r>
          </a:p>
          <a:p>
            <a:pPr lvl="0"/>
            <a:r>
              <a:rPr/>
              <a:t>Different label vocabularies and very different class balances.</a:t>
            </a:r>
          </a:p>
          <a:p>
            <a:pPr lvl="0"/>
            <a:r>
              <a:rPr/>
              <a:t>This diversity is exactly what makes them suitable for a generalisation study.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Core Challenge: Feature-Schema Mismatch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three datasets share </a:t>
            </a:r>
            <a:r>
              <a:rPr b="1"/>
              <a:t>no common column name</a:t>
            </a:r>
            <a:r>
              <a:rPr/>
              <a:t>.</a:t>
            </a:r>
          </a:p>
          <a:p>
            <a:pPr lvl="0"/>
            <a:r>
              <a:rPr/>
              <a:t>CICFlowMeter statistics ≠ Argus/Bro counters ≠ raw Zeek log fields.</a:t>
            </a:r>
          </a:p>
          <a:p>
            <a:pPr lvl="0"/>
            <a:r>
              <a:rPr/>
              <a:t>Only ~</a:t>
            </a:r>
            <a:r>
              <a:rPr b="1"/>
              <a:t>6 raw features</a:t>
            </a:r>
            <a:r>
              <a:rPr/>
              <a:t> are semantically shared (duration, bytes, packets…); ~15–25 after encoding + derived ratios.</a:t>
            </a:r>
          </a:p>
        </p:txBody>
      </p:sp>
      <p:pic>
        <p:nvPicPr>
          <p:cNvPr descr="figures/fig_shared_subspa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74700"/>
            <a:ext cx="51054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Shared vs dataset-specific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mismatch is the root cause of the generalisation gap — and the focus of our work.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Proposed Methodology (overview)</a:t>
            </a:r>
          </a:p>
        </p:txBody>
      </p:sp>
      <p:pic>
        <p:nvPicPr>
          <p:cNvPr descr="figures/fig_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Proposed end-to-end methodology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Feature Harmonisation (shared subspace)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3800"/>
            <a:ext cx="8229600" cy="3937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map semantically equivalent features across datasets into one common subspace: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714500"/>
          <a:ext cx="8229600" cy="170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CIC-IDS-2017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UNSW-NB15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TON_IoT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Flow Duration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bytes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Total Length of Fwd Packets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sbytes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src_bytes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Dest bytes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Total Length of Bwd Packets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dbytes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dst_bytes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packets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Total Fwd Packets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spkts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src_pkts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Dest packets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Total Backward Packets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dpkts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dst_pkts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 / Service / State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(encoded)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proto</a:t>
                      </a:r>
                      <a:r>
                        <a:rPr/>
                        <a:t>,</a:t>
                      </a:r>
                      <a:r>
                        <a:rPr>
                          <a:latin typeface="Courier"/>
                        </a:rPr>
                        <a:t>service</a:t>
                      </a:r>
                      <a:r>
                        <a:rPr/>
                        <a:t>,</a:t>
                      </a:r>
                      <a:r>
                        <a:rPr>
                          <a:latin typeface="Courier"/>
                        </a:rPr>
                        <a:t>state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proto</a:t>
                      </a:r>
                      <a:r>
                        <a:rPr/>
                        <a:t>,</a:t>
                      </a:r>
                      <a:r>
                        <a:rPr>
                          <a:latin typeface="Courier"/>
                        </a:rPr>
                        <a:t>service</a:t>
                      </a:r>
                      <a:r>
                        <a:rPr/>
                        <a:t>,</a:t>
                      </a:r>
                      <a:r>
                        <a:rPr>
                          <a:latin typeface="Courier"/>
                        </a:rPr>
                        <a:t>conn_state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43300"/>
            <a:ext cx="8229600" cy="914400"/>
          </a:xfrm>
        </p:spPr>
        <p:txBody>
          <a:bodyPr/>
          <a:lstStyle/>
          <a:p>
            <a:pPr lvl="0"/>
            <a:r>
              <a:rPr/>
              <a:t>Plus derived ratios: bytes/packet, packets/second, forward/backward ratio.</a:t>
            </a:r>
          </a:p>
          <a:p>
            <a:pPr lvl="0"/>
            <a:r>
              <a:rPr b="1"/>
              <a:t>Remove identity/leakage features</a:t>
            </a:r>
            <a:r>
              <a:rPr/>
              <a:t> (IPs, ports, IDs).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Metaheuristic Feature Selection (core contribution)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 = binary mask</a:t>
            </a:r>
            <a:r>
              <a:rPr/>
              <a:t> over the shared subspace (which features to keep).</a:t>
            </a:r>
          </a:p>
          <a:p>
            <a:pPr lvl="0"/>
            <a:r>
              <a:rPr b="1"/>
              <a:t>Fitness = cross-dataset generalisation</a:t>
            </a:r>
            <a:r>
              <a:rPr/>
              <a:t> (the novelty):</a:t>
            </a:r>
          </a:p>
          <a:p>
            <a:pPr lvl="0" indent="0">
              <a:buNone/>
            </a:pPr>
            <a:r>
              <a:rPr>
                <a:latin typeface="Courier"/>
              </a:rPr>
              <a:t>fitness(mask) = average  balanced-accuracy / macro-F1
                of model trained on source[mask]
                and evaluated on target[mask]
                over all source→target pairs</a:t>
            </a:r>
          </a:p>
          <a:p>
            <a:pPr lvl="0"/>
            <a:r>
              <a:rPr b="1"/>
              <a:t>Optimisers compared:</a:t>
            </a:r>
            <a:r>
              <a:rPr/>
              <a:t> Genetic Algorithm (GA), Particle Swarm Optimization (PSO), Differential Evolution / Whale Optimization.</a:t>
            </a:r>
          </a:p>
          <a:p>
            <a:pPr lvl="0"/>
            <a:r>
              <a:rPr/>
              <a:t>Optional multi-objective NSGA-II: maximise cross-dataset F1 </a:t>
            </a:r>
            <a:r>
              <a:rPr b="1"/>
              <a:t>and</a:t>
            </a:r>
            <a:r>
              <a:rPr/>
              <a:t> minimise number of features.</a:t>
            </a:r>
          </a:p>
          <a:p>
            <a:pPr lvl="0"/>
            <a:r>
              <a:rPr b="1"/>
              <a:t>Key difference from prior work:</a:t>
            </a:r>
            <a:r>
              <a:rPr/>
              <a:t> the optimiser is rewarded for </a:t>
            </a:r>
            <a:r>
              <a:rPr i="1"/>
              <a:t>transfer</a:t>
            </a:r>
            <a:r>
              <a:rPr/>
              <a:t>, not for fitting one dataset.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Evaluation Protocol &amp;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Protocol</a:t>
            </a:r>
          </a:p>
          <a:p>
            <a:pPr lvl="0"/>
            <a:r>
              <a:rPr i="1"/>
              <a:t>Same-dataset:</a:t>
            </a:r>
            <a:r>
              <a:rPr/>
              <a:t> stratified 5-fold cross-validation.</a:t>
            </a:r>
          </a:p>
          <a:p>
            <a:pPr lvl="0"/>
            <a:r>
              <a:rPr i="1"/>
              <a:t>Cross-dataset:</a:t>
            </a:r>
            <a:r>
              <a:rPr/>
              <a:t> train on source, test on target → full </a:t>
            </a:r>
            <a:r>
              <a:rPr b="1"/>
              <a:t>3×3</a:t>
            </a:r>
            <a:r>
              <a:rPr/>
              <a:t> matrix.</a:t>
            </a:r>
          </a:p>
          <a:p>
            <a:pPr lvl="0"/>
            <a:r>
              <a:rPr i="1"/>
              <a:t>Metrics:</a:t>
            </a:r>
            <a:r>
              <a:rPr/>
              <a:t> balanced accuracy, macro-F1, per-class F1 (not overall accuracy — imbalance is dataset-specific).</a:t>
            </a:r>
          </a:p>
          <a:p>
            <a:pPr lvl="0"/>
            <a:r>
              <a:rPr i="1"/>
              <a:t>Models:</a:t>
            </a:r>
            <a:r>
              <a:rPr/>
              <a:t> RF, XGBoost/LightGBM, SVM, Logistic Regression, small MLP.</a:t>
            </a:r>
          </a:p>
          <a:p>
            <a:pPr lvl="0"/>
            <a:r>
              <a:rPr/>
              <a:t>Fixed seeds, repeated runs for reproducibility.</a:t>
            </a:r>
          </a:p>
          <a:p>
            <a:pPr lvl="0" indent="0" marL="0">
              <a:buNone/>
            </a:pPr>
            <a:r>
              <a:rPr b="1"/>
              <a:t>Baselines for feature selection</a:t>
            </a:r>
          </a:p>
          <a:p>
            <a:pPr lvl="0"/>
            <a:r>
              <a:rPr/>
              <a:t>No feature selection; mutual information; random-forest importance; PCA; RFE; LASSO — all matched to the same subset size as the metaheuristic.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Literature Review (1/2)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/>
                <a:gridCol w="1651000"/>
                <a:gridCol w="1651000"/>
                <a:gridCol w="1651000"/>
                <a:gridCol w="165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Conclusion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Cross-Dataset Generalization of ML for NIDS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Cantone et al., 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Cross-dataset benchmark (4 sets)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Near-chance cross-dataset; diagnosis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Assessing Generalisation Capability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Hossain et al., 2026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RF/LR/NB on UNSW ↔ TON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&lt;40% cross-dataset vs 95–99% in-dataset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Cross-Domain Failure in Lightweight IDS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Hakim et al., 2026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IIoT sets + SHAP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Port shortcut; protocol reverses results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Tabular Representation Learning for NIDS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Butt et al., 2026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Representation learning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Transfer depends on source→target pair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CIC-IDS-2017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Sharafaldin et al., 2018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dataset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UNSW-NB15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Moustafa &amp; Slay, 2015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Second dataset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TON_IoT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Moustafa, 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Third dataset (Zeek)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Metaheuristic classifiers for 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Fatima &amp; Ali, 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 FS + ensembles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single-dataset; no transfer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Literature Review (2/2)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/>
                <a:gridCol w="1651000"/>
                <a:gridCol w="1651000"/>
                <a:gridCol w="1651000"/>
                <a:gridCol w="165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Conclusion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Unsupervised FS via NSGA-II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Suman et al., 2019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Multi-objective 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Pareto subsets; single-dataset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MPDGGA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Li, 2026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Multi-population GA 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10/11 datasets; single-dataset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 + Whale Optimization 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Mojtahedi et al., 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Hybrid bio-inspired 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Swarm hybridisation viable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NSGA-III AutoML IDS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Yang et al., 2026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Multi-objective AutoML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Efficiency, not transfer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DI-NIDS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Layeghy et al., 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Domain-invariant features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Better cross-domain; needs target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Survey of NIDS Data Sets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Ring et al., 2019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taxonomy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Explains heterogeneity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Adversarial Robustness (NewCICIDS)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Vitorino et al., 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Corrected CICIDS2017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Corrected data changes conclusions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Research Gap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Cross-dataset eval?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Metaheuristic FS?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Optimised </a:t>
                      </a:r>
                      <a:r>
                        <a:rPr b="1"/>
                        <a:t>for transfer</a:t>
                      </a:r>
                      <a:r>
                        <a:rPr/>
                        <a:t>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Diagnostic studies [1]–[4]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Metaheuristic FS [8]–[12]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(same-dataset fitness)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 adaptation [13]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(needs target data)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This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Yes (3 datasets)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Yes (GA, PSO, …)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073400"/>
            <a:ext cx="8229600" cy="1384300"/>
          </a:xfrm>
        </p:spPr>
        <p:txBody>
          <a:bodyPr/>
          <a:lstStyle/>
          <a:p>
            <a:pPr lvl="0"/>
            <a:r>
              <a:rPr b="1"/>
              <a:t>No published work selects features using a cross-dataset generalisation objective for NIDS.</a:t>
            </a:r>
          </a:p>
          <a:p>
            <a:pPr lvl="0"/>
            <a:r>
              <a:rPr/>
              <a:t>Our project fills exactly this gap.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&amp;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Completed</a:t>
            </a:r>
          </a:p>
          <a:p>
            <a:pPr lvl="0"/>
            <a:r>
              <a:rPr/>
              <a:t>Reproducible Python environment + version-controlled repository.</a:t>
            </a:r>
          </a:p>
          <a:p>
            <a:pPr lvl="0"/>
            <a:r>
              <a:rPr/>
              <a:t>All three datasets downloaded and inspected.</a:t>
            </a:r>
          </a:p>
          <a:p>
            <a:pPr lvl="0"/>
            <a:r>
              <a:rPr/>
              <a:t>Automated </a:t>
            </a:r>
            <a:r>
              <a:rPr b="1"/>
              <a:t>dataset-analysis pipeline</a:t>
            </a:r>
            <a:r>
              <a:rPr/>
              <a:t> (rows, class distributions, NaN/Inf counts).</a:t>
            </a:r>
          </a:p>
          <a:p>
            <a:pPr lvl="0"/>
            <a:r>
              <a:rPr/>
              <a:t>Automated </a:t>
            </a:r>
            <a:r>
              <a:rPr b="1"/>
              <a:t>figure-generation pipeline</a:t>
            </a:r>
            <a:r>
              <a:rPr/>
              <a:t> for all report charts.</a:t>
            </a:r>
          </a:p>
          <a:p>
            <a:pPr lvl="0"/>
            <a:r>
              <a:rPr/>
              <a:t>Feature-harmonisation mapping and label taxonomy specified.</a:t>
            </a:r>
          </a:p>
          <a:p>
            <a:pPr lvl="0"/>
            <a:r>
              <a:rPr/>
              <a:t>Cleaning rules for Inf/NaN, duplicated column, label-encoding artefact, identity features.</a:t>
            </a:r>
          </a:p>
          <a:p>
            <a:pPr lvl="0" indent="0" marL="0">
              <a:buNone/>
            </a:pPr>
            <a:r>
              <a:rPr b="1"/>
              <a:t>In progress / next</a:t>
            </a:r>
          </a:p>
          <a:p>
            <a:pPr lvl="0"/>
            <a:r>
              <a:rPr/>
              <a:t>Cleaning &amp; harmonisation code; cached harmonised matrices.</a:t>
            </a:r>
          </a:p>
          <a:p>
            <a:pPr lvl="0"/>
            <a:r>
              <a:rPr/>
              <a:t>Cross-dataset model benchmark.</a:t>
            </a:r>
          </a:p>
          <a:p>
            <a:pPr lvl="0"/>
            <a:r>
              <a:rPr/>
              <a:t>GA/PSO/DE optimisers + baseline feature selectors.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&amp; Discussion (dataset analysis)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Measured findings so far</a:t>
            </a:r>
          </a:p>
          <a:p>
            <a:pPr lvl="0"/>
            <a:r>
              <a:rPr/>
              <a:t>CIC-IDS-2017: 2,830,743 flows, </a:t>
            </a:r>
            <a:r>
              <a:rPr b="1"/>
              <a:t>80.3% benign</a:t>
            </a:r>
            <a:r>
              <a:rPr/>
              <a:t>, 4,376 Inf + 1,358 NaN cells, one duplicated column.</a:t>
            </a:r>
          </a:p>
          <a:p>
            <a:pPr lvl="0"/>
            <a:r>
              <a:rPr/>
              <a:t>UNSW-NB15: 257,673 records, 9 attack classes + Normal.</a:t>
            </a:r>
          </a:p>
          <a:p>
            <a:pPr lvl="0"/>
            <a:r>
              <a:rPr/>
              <a:t>TON_IoT: 211,043 records, </a:t>
            </a:r>
            <a:r>
              <a:rPr b="1"/>
              <a:t>near-balanced</a:t>
            </a:r>
            <a:r>
              <a:rPr/>
              <a:t> attack classes (20,000 each, except MITM 1,043).</a:t>
            </a:r>
          </a:p>
          <a:p>
            <a:pPr lvl="0"/>
            <a:r>
              <a:rPr b="1"/>
              <a:t>Schema mismatch:</a:t>
            </a:r>
            <a:r>
              <a:rPr/>
              <a:t> no shared column names; only ~6 raw features semantically common.</a:t>
            </a:r>
          </a:p>
          <a:p>
            <a:pPr lvl="0" indent="0" marL="0">
              <a:buNone/>
            </a:pPr>
            <a:r>
              <a:rPr b="1"/>
              <a:t>Discussion</a:t>
            </a:r>
          </a:p>
          <a:p>
            <a:pPr lvl="0"/>
            <a:r>
              <a:rPr b="1"/>
              <a:t>Overall accuracy is misleading</a:t>
            </a:r>
            <a:r>
              <a:rPr/>
              <a:t> → we use balanced accuracy and macro-F1.</a:t>
            </a:r>
          </a:p>
          <a:p>
            <a:pPr lvl="0"/>
            <a:r>
              <a:rPr b="1"/>
              <a:t>Identity/port features inflate same-dataset scores</a:t>
            </a:r>
            <a:r>
              <a:rPr/>
              <a:t> and destroy transfer [1], [3].</a:t>
            </a:r>
          </a:p>
          <a:p>
            <a:pPr lvl="0"/>
            <a:r>
              <a:rPr/>
              <a:t>Baseline model benchmarking (expected: high same-dataset, near-chance cross-dataset) is the next step.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Gantt Chart</a:t>
            </a:r>
          </a:p>
        </p:txBody>
      </p:sp>
      <p:pic>
        <p:nvPicPr>
          <p:cNvPr descr="figures/fig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1193800"/>
            <a:ext cx="7099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Project Gantt chart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</a:t>
            </a:r>
          </a:p>
          <a:p>
            <a:pPr lvl="0"/>
            <a:r>
              <a:rPr/>
              <a:t>Three structurally different benchmarks analysed; </a:t>
            </a:r>
            <a:r>
              <a:rPr b="1"/>
              <a:t>feature-schema mismatch</a:t>
            </a:r>
            <a:r>
              <a:rPr/>
              <a:t> is the root cause of cross-dataset failure.</a:t>
            </a:r>
          </a:p>
          <a:p>
            <a:pPr lvl="0"/>
            <a:r>
              <a:rPr/>
              <a:t>Literature review (15 core papers) confirms a clear gap: no transfer-optimised metaheuristic feature selection for NIDS.</a:t>
            </a:r>
          </a:p>
          <a:p>
            <a:pPr lvl="0"/>
            <a:r>
              <a:rPr/>
              <a:t>Objectives and a seven-phase methodology defined; codebase and tooling set up.</a:t>
            </a:r>
          </a:p>
          <a:p>
            <a:pPr lvl="0" indent="0" marL="0">
              <a:buNone/>
            </a:pPr>
            <a:r>
              <a:rPr b="1"/>
              <a:t>Future work</a:t>
            </a:r>
          </a:p>
          <a:p>
            <a:pPr lvl="0" indent="-342900" marL="342900">
              <a:buAutoNum type="arabicPeriod"/>
            </a:pPr>
            <a:r>
              <a:rPr/>
              <a:t>Cleaning &amp; feature harmonisation.</a:t>
            </a:r>
          </a:p>
          <a:p>
            <a:pPr lvl="0" indent="-342900" marL="342900">
              <a:buAutoNum type="arabicPeriod"/>
            </a:pPr>
            <a:r>
              <a:rPr/>
              <a:t>Cross-dataset baseline benchmark (3×3 matrix).</a:t>
            </a:r>
          </a:p>
          <a:p>
            <a:pPr lvl="0" indent="-342900" marL="342900">
              <a:buAutoNum type="arabicPeriod"/>
            </a:pPr>
            <a:r>
              <a:rPr/>
              <a:t>GA / PSO / DE transfer-oriented feature selection.</a:t>
            </a:r>
          </a:p>
          <a:p>
            <a:pPr lvl="0" indent="-342900" marL="342900">
              <a:buAutoNum type="arabicPeriod"/>
            </a:pPr>
            <a:r>
              <a:rPr/>
              <a:t>Comparison vs. standard feature-selection baselines.</a:t>
            </a:r>
          </a:p>
          <a:p>
            <a:pPr lvl="0" indent="-342900" marL="342900">
              <a:buAutoNum type="arabicPeriod"/>
            </a:pPr>
            <a:r>
              <a:rPr/>
              <a:t>Analysis of transferable features/attacks + ablations.</a:t>
            </a:r>
          </a:p>
          <a:p>
            <a:pPr lvl="0" indent="-342900" marL="342900">
              <a:buAutoNum type="arabicPeriod"/>
            </a:pPr>
            <a:r>
              <a:rPr/>
              <a:t>Practical guidelines and final report.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[1] Cantone, Marrocco, Bria, “On the cross-dataset generalization of machine learning for network intrusion detection,” </a:t>
            </a:r>
            <a:r>
              <a:rPr i="1"/>
              <a:t>IEEE Access</a:t>
            </a:r>
            <a:r>
              <a:rPr/>
              <a:t>, 2024.</a:t>
            </a:r>
          </a:p>
          <a:p>
            <a:pPr lvl="0" indent="0" marL="0">
              <a:buNone/>
            </a:pPr>
            <a:r>
              <a:rPr/>
              <a:t>[2] Hossain et al., “Assessing generalisation capability of machine learning models for intrusion detection,” arXiv:2605.04407, 2026.</a:t>
            </a:r>
          </a:p>
          <a:p>
            <a:pPr lvl="0" indent="0" marL="0">
              <a:buNone/>
            </a:pPr>
            <a:r>
              <a:rPr/>
              <a:t>[3] Hakim, Uddin, Anis, “Cross-domain generalization failure in lightweight intrusion detection models for IIoT networks,” arXiv:2607.00553, 2026.</a:t>
            </a:r>
          </a:p>
          <a:p>
            <a:pPr lvl="0" indent="0" marL="0">
              <a:buNone/>
            </a:pPr>
            <a:r>
              <a:rPr/>
              <a:t>[4] Butt, Hotho, Schlör, “Evaluating tabular representation learning for network intrusion detection,” </a:t>
            </a:r>
            <a:r>
              <a:rPr i="1"/>
              <a:t>IEEE CSR</a:t>
            </a:r>
            <a:r>
              <a:rPr/>
              <a:t>, 2026.</a:t>
            </a:r>
          </a:p>
          <a:p>
            <a:pPr lvl="0" indent="0" marL="0">
              <a:buNone/>
            </a:pPr>
            <a:r>
              <a:rPr/>
              <a:t>[5] Sharafaldin, Lashkari, Ghorbani, “Toward generating a new intrusion detection dataset…” (CIC-IDS-2017), </a:t>
            </a:r>
            <a:r>
              <a:rPr i="1"/>
              <a:t>ICISSP</a:t>
            </a:r>
            <a:r>
              <a:rPr/>
              <a:t>, 2018.</a:t>
            </a:r>
          </a:p>
          <a:p>
            <a:pPr lvl="0" indent="0" marL="0">
              <a:buNone/>
            </a:pPr>
            <a:r>
              <a:rPr/>
              <a:t>[6] Moustafa, Slay, “UNSW-NB15: a comprehensive data set…”, </a:t>
            </a:r>
            <a:r>
              <a:rPr i="1"/>
              <a:t>MilCIS</a:t>
            </a:r>
            <a:r>
              <a:rPr/>
              <a:t>, 2015.</a:t>
            </a:r>
          </a:p>
          <a:p>
            <a:pPr lvl="0" indent="0" marL="0">
              <a:buNone/>
            </a:pPr>
            <a:r>
              <a:rPr/>
              <a:t>[7] Moustafa, “Network TON_IoT datasets,” </a:t>
            </a:r>
            <a:r>
              <a:rPr i="1"/>
              <a:t>Sustainable Cities and Society</a:t>
            </a:r>
            <a:r>
              <a:rPr/>
              <a:t>, 2021.</a:t>
            </a:r>
          </a:p>
          <a:p>
            <a:pPr lvl="0" indent="0" marL="0">
              <a:buNone/>
            </a:pPr>
            <a:r>
              <a:rPr/>
              <a:t>[8]–[12] Fatima &amp; Ali (2022); Suman et al. (2019); Li (2026); Mojtahedi et al. (2022); Yang et al. (2026).</a:t>
            </a:r>
          </a:p>
          <a:p>
            <a:pPr lvl="0" indent="0" marL="0">
              <a:buNone/>
            </a:pPr>
            <a:r>
              <a:rPr/>
              <a:t>[13] Layeghy, Baktashmotlagh, Portmann, “DI-NIDS,” </a:t>
            </a:r>
            <a:r>
              <a:rPr i="1"/>
              <a:t>Knowledge-Based Systems</a:t>
            </a:r>
            <a:r>
              <a:rPr/>
              <a:t>, 2023.</a:t>
            </a:r>
          </a:p>
          <a:p>
            <a:pPr lvl="0" indent="0" marL="0">
              <a:buNone/>
            </a:pPr>
            <a:r>
              <a:rPr/>
              <a:t>[14] Ring et al., “A survey of network-based intrusion detection data sets,” </a:t>
            </a:r>
            <a:r>
              <a:rPr i="1"/>
              <a:t>Computers &amp; Security</a:t>
            </a:r>
            <a:r>
              <a:rPr/>
              <a:t>, 2019.</a:t>
            </a:r>
          </a:p>
          <a:p>
            <a:pPr lvl="0" indent="0" marL="0">
              <a:buNone/>
            </a:pPr>
            <a:r>
              <a:rPr/>
              <a:t>[15] Vitorino et al., “An adversarial robustness benchmark for enterprise NIDS,” </a:t>
            </a:r>
            <a:r>
              <a:rPr i="1"/>
              <a:t>FPS</a:t>
            </a:r>
            <a:r>
              <a:rPr/>
              <a:t>, 2023.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Questions?</a:t>
            </a:r>
          </a:p>
          <a:p>
            <a:pPr lvl="0" indent="0" marL="0">
              <a:buNone/>
            </a:pPr>
            <a:r>
              <a:rPr/>
              <a:t>Evaluating and Improving Cross-Dataset Generalization of ML-Based Intrusion Detection Systems</a:t>
            </a:r>
          </a:p>
          <a:p>
            <a:pPr lvl="0" indent="0" marL="0">
              <a:buNone/>
            </a:pPr>
            <a:r>
              <a:rPr/>
              <a:t>Shivam Chauhan · Deepesh · Shantanu Agarwal</a:t>
            </a:r>
          </a:p>
          <a:p>
            <a:pPr lvl="0" indent="0" marL="0">
              <a:buNone/>
            </a:pPr>
            <a:r>
              <a:rPr/>
              <a:t>Under the supervision of Dr. Preeti Bansal, Department of IT, NSUT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and Improving Cross-Dataset Generalization of Machine-Learning-Based Intrusion Detection Systems</dc:title>
  <dc:creator/>
  <cp:keywords/>
  <dcterms:created xsi:type="dcterms:W3CDTF">2026-09-28T09:08:50Z</dcterms:created>
  <dcterms:modified xsi:type="dcterms:W3CDTF">2026-09-28T09:08:50Z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30 September 2026</vt:lpwstr>
  </property>
  <property fmtid="{D5CDD505-2E9C-101B-9397-08002B2CF9AE}" pid="3" name="subtitle">
    <vt:lpwstr>B.Tech. Project – I | Mid-Semester Evaluation</vt:lpwstr>
  </property>
</Properties>
</file>